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4" r:id="rId3"/>
    <p:sldId id="272" r:id="rId4"/>
    <p:sldId id="277" r:id="rId5"/>
    <p:sldId id="295" r:id="rId6"/>
    <p:sldId id="297" r:id="rId7"/>
    <p:sldId id="299" r:id="rId8"/>
    <p:sldId id="280" r:id="rId9"/>
    <p:sldId id="300" r:id="rId10"/>
    <p:sldId id="284" r:id="rId11"/>
    <p:sldId id="285" r:id="rId12"/>
    <p:sldId id="273" r:id="rId13"/>
    <p:sldId id="301" r:id="rId14"/>
    <p:sldId id="283" r:id="rId15"/>
    <p:sldId id="278" r:id="rId16"/>
    <p:sldId id="281" r:id="rId17"/>
    <p:sldId id="303" r:id="rId18"/>
    <p:sldId id="282" r:id="rId19"/>
    <p:sldId id="289" r:id="rId20"/>
    <p:sldId id="288" r:id="rId21"/>
    <p:sldId id="30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8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0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4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8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461895" y="3013710"/>
            <a:ext cx="7267575" cy="8299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48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AIOps </a:t>
            </a:r>
            <a:r>
              <a:rPr lang="zh-CN" altLang="en-US" sz="48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监控指标异常检测</a:t>
            </a:r>
            <a:endParaRPr lang="zh-CN" altLang="en-US" sz="48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42335" y="4078605"/>
            <a:ext cx="5306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第六汇报小组</a:t>
            </a:r>
            <a:r>
              <a:rPr lang="en-US" altLang="zh-CN"/>
              <a:t>：</a:t>
            </a:r>
            <a:r>
              <a:rPr lang="zh-CN" altLang="en-US">
                <a:sym typeface="+mn-ea"/>
              </a:rPr>
              <a:t>马蕊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张玳瑗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李姝漫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王咏心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吴柯蝶</a:t>
            </a: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 8"/>
          <p:cNvSpPr/>
          <p:nvPr/>
        </p:nvSpPr>
        <p:spPr>
          <a:xfrm>
            <a:off x="514985" y="2526030"/>
            <a:ext cx="2670810" cy="15487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</a:t>
            </a:r>
            <a:r>
              <a:rPr lang="zh-CN" altLang="en-US" sz="2000">
                <a:solidFill>
                  <a:schemeClr val="tx1"/>
                </a:solidFill>
              </a:rPr>
              <a:t>原始数据</a:t>
            </a:r>
            <a:r>
              <a:rPr lang="en-US" altLang="en-US" sz="2000">
                <a:solidFill>
                  <a:schemeClr val="tx1"/>
                </a:solidFill>
              </a:rPr>
              <a:t>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2000">
                <a:solidFill>
                  <a:schemeClr val="tx1"/>
                </a:solidFill>
              </a:rPr>
              <a:t>metric.zip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2000">
                <a:solidFill>
                  <a:schemeClr val="tx1"/>
                </a:solidFill>
              </a:rPr>
              <a:t>6 </a:t>
            </a:r>
            <a:r>
              <a:rPr lang="zh-CN" altLang="en-US" sz="2000">
                <a:solidFill>
                  <a:schemeClr val="tx1"/>
                </a:solidFill>
              </a:rPr>
              <a:t>个场景</a:t>
            </a:r>
            <a:r>
              <a:rPr lang="en-US" altLang="en-US" sz="2000">
                <a:solidFill>
                  <a:schemeClr val="tx1"/>
                </a:solidFill>
              </a:rPr>
              <a:t> / 5 </a:t>
            </a:r>
            <a:r>
              <a:rPr lang="zh-CN" altLang="en-US" sz="2000">
                <a:solidFill>
                  <a:schemeClr val="tx1"/>
                </a:solidFill>
              </a:rPr>
              <a:t>类指标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4985" y="1243330"/>
            <a:ext cx="11161395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/>
              <a:t>从</a:t>
            </a:r>
            <a:r>
              <a:rPr lang="en-US" altLang="en-US" sz="2400"/>
              <a:t> 44,972,147 </a:t>
            </a:r>
            <a:r>
              <a:rPr lang="zh-CN" altLang="en-US" sz="2400"/>
              <a:t>条监控指标中，识别异常点、异常序列与多指标融合异常事件。</a:t>
            </a:r>
            <a:endParaRPr lang="zh-CN" altLang="en-US" sz="2400"/>
          </a:p>
        </p:txBody>
      </p:sp>
      <p:sp>
        <p:nvSpPr>
          <p:cNvPr id="17" name="矩形 16"/>
          <p:cNvSpPr/>
          <p:nvPr/>
        </p:nvSpPr>
        <p:spPr bwMode="auto">
          <a:xfrm>
            <a:off x="280035" y="483870"/>
            <a:ext cx="8955405" cy="5835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项目总览：基于</a:t>
            </a: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 Spark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的</a:t>
            </a: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 AIOps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异常检测流程</a:t>
            </a:r>
            <a:endParaRPr lang="zh-CN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19" name="文本框 7"/>
          <p:cNvSpPr txBox="1"/>
          <p:nvPr/>
        </p:nvSpPr>
        <p:spPr>
          <a:xfrm>
            <a:off x="387985" y="1967230"/>
            <a:ext cx="2153920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/>
              <a:t>数据处理</a:t>
            </a:r>
            <a:endParaRPr lang="zh-CN" altLang="en-US" sz="2400"/>
          </a:p>
        </p:txBody>
      </p:sp>
      <p:sp>
        <p:nvSpPr>
          <p:cNvPr id="20" name="文本框 7"/>
          <p:cNvSpPr txBox="1"/>
          <p:nvPr/>
        </p:nvSpPr>
        <p:spPr>
          <a:xfrm>
            <a:off x="387985" y="4177030"/>
            <a:ext cx="1596390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/>
              <a:t>算法</a:t>
            </a:r>
            <a:r>
              <a:rPr lang="zh-CN" altLang="en-US" sz="2400"/>
              <a:t>迭代</a:t>
            </a:r>
            <a:endParaRPr lang="zh-CN" altLang="en-US" sz="2400"/>
          </a:p>
        </p:txBody>
      </p:sp>
      <p:sp>
        <p:nvSpPr>
          <p:cNvPr id="24" name="圆角矩形 8"/>
          <p:cNvSpPr/>
          <p:nvPr/>
        </p:nvSpPr>
        <p:spPr>
          <a:xfrm>
            <a:off x="3305175" y="2526030"/>
            <a:ext cx="2670810" cy="15487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[HDFS </a:t>
            </a:r>
            <a:r>
              <a:rPr lang="zh-CN" altLang="en-US" sz="2000">
                <a:solidFill>
                  <a:schemeClr val="tx1"/>
                </a:solidFill>
              </a:rPr>
              <a:t>存储</a:t>
            </a:r>
            <a:r>
              <a:rPr lang="en-US" altLang="en-US" sz="2000">
                <a:solidFill>
                  <a:schemeClr val="tx1"/>
                </a:solidFill>
              </a:rPr>
              <a:t>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2000">
                <a:solidFill>
                  <a:schemeClr val="tx1"/>
                </a:solidFill>
              </a:rPr>
              <a:t>/aiops/metric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分布式存储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5" name="圆角矩形 8"/>
          <p:cNvSpPr/>
          <p:nvPr/>
        </p:nvSpPr>
        <p:spPr>
          <a:xfrm>
            <a:off x="6221730" y="2526030"/>
            <a:ext cx="2670810" cy="15487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[Spark </a:t>
            </a:r>
            <a:r>
              <a:rPr lang="zh-CN" altLang="en-US" sz="2000">
                <a:solidFill>
                  <a:schemeClr val="tx1"/>
                </a:solidFill>
              </a:rPr>
              <a:t>清洗</a:t>
            </a:r>
            <a:r>
              <a:rPr lang="en-US" altLang="en-US" sz="2000">
                <a:solidFill>
                  <a:schemeClr val="tx1"/>
                </a:solidFill>
              </a:rPr>
              <a:t>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类型转换</a:t>
            </a:r>
            <a:r>
              <a:rPr lang="en-US" altLang="en-US" sz="2000">
                <a:solidFill>
                  <a:schemeClr val="tx1"/>
                </a:solidFill>
              </a:rPr>
              <a:t> / </a:t>
            </a:r>
            <a:r>
              <a:rPr lang="zh-CN" altLang="en-US" sz="2000">
                <a:solidFill>
                  <a:schemeClr val="tx1"/>
                </a:solidFill>
              </a:rPr>
              <a:t>空值过滤</a:t>
            </a:r>
            <a:endParaRPr lang="zh-CN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宽表转长表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6" name="圆角矩形 8"/>
          <p:cNvSpPr/>
          <p:nvPr/>
        </p:nvSpPr>
        <p:spPr>
          <a:xfrm>
            <a:off x="9138285" y="2526030"/>
            <a:ext cx="2670810" cy="15487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[clean_metrics]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2000">
                <a:solidFill>
                  <a:schemeClr val="tx1"/>
                </a:solidFill>
              </a:rPr>
              <a:t>44,972,147 </a:t>
            </a:r>
            <a:r>
              <a:rPr lang="zh-CN" altLang="en-US" sz="2000">
                <a:solidFill>
                  <a:schemeClr val="tx1"/>
                </a:solidFill>
              </a:rPr>
              <a:t>条记录</a:t>
            </a:r>
            <a:endParaRPr lang="zh-CN" altLang="en-US" sz="2000">
              <a:solidFill>
                <a:schemeClr val="tx1"/>
              </a:solidFill>
            </a:endParaRPr>
          </a:p>
          <a:p>
            <a:pPr algn="ctr"/>
            <a:r>
              <a:rPr lang="en-US" altLang="en-US" sz="2000">
                <a:solidFill>
                  <a:schemeClr val="tx1"/>
                </a:solidFill>
              </a:rPr>
              <a:t>8,730 </a:t>
            </a:r>
            <a:r>
              <a:rPr lang="zh-CN" altLang="en-US" sz="2000">
                <a:solidFill>
                  <a:schemeClr val="tx1"/>
                </a:solidFill>
              </a:rPr>
              <a:t>条时间序列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7" name="圆角矩形 8"/>
          <p:cNvSpPr/>
          <p:nvPr/>
        </p:nvSpPr>
        <p:spPr>
          <a:xfrm>
            <a:off x="514985" y="4815205"/>
            <a:ext cx="2670810" cy="1548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[V1 IQR Baseline]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建立无监督基线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8" name="圆角矩形 8"/>
          <p:cNvSpPr/>
          <p:nvPr/>
        </p:nvSpPr>
        <p:spPr>
          <a:xfrm>
            <a:off x="3305175" y="4815205"/>
            <a:ext cx="2670810" cy="1548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[V2 IQR ∩ Z-score]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提高异常置信度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9" name="圆角矩形 8"/>
          <p:cNvSpPr/>
          <p:nvPr/>
        </p:nvSpPr>
        <p:spPr>
          <a:xfrm>
            <a:off x="6221730" y="4815205"/>
            <a:ext cx="2670810" cy="1548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[V3 Window Z-score]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捕捉局部时间异常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0" name="圆角矩形 8"/>
          <p:cNvSpPr/>
          <p:nvPr/>
        </p:nvSpPr>
        <p:spPr>
          <a:xfrm>
            <a:off x="9138285" y="4815205"/>
            <a:ext cx="2909570" cy="1548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127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tx1"/>
                </a:solidFill>
              </a:rPr>
              <a:t>[V4 MultiMetric Fusion]</a:t>
            </a:r>
            <a:endParaRPr lang="en-US" altLang="en-US" sz="2000">
              <a:solidFill>
                <a:schemeClr val="tx1"/>
              </a:solidFill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发现多指标共同异常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3063240" y="319913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5975985" y="319913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8855075" y="320675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3063240" y="553339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>
            <a:off x="5856605" y="553339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ight Arrow 36"/>
          <p:cNvSpPr/>
          <p:nvPr/>
        </p:nvSpPr>
        <p:spPr>
          <a:xfrm>
            <a:off x="8841740" y="5467350"/>
            <a:ext cx="365125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6-09 下午2.36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" y="1384935"/>
            <a:ext cx="6659245" cy="5252085"/>
          </a:xfrm>
          <a:prstGeom prst="rect">
            <a:avLst/>
          </a:prstGeom>
        </p:spPr>
      </p:pic>
      <p:pic>
        <p:nvPicPr>
          <p:cNvPr id="5" name="图片 4" descr="截屏2026-06-09 下午2.36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6531610"/>
            <a:ext cx="1861820" cy="326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64225" y="1685925"/>
            <a:ext cx="7954010" cy="3227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6 个实验场景</a:t>
            </a:r>
            <a:r>
              <a:rPr lang="en-US" altLang="zh-CN" sz="2400"/>
              <a:t> &amp; </a:t>
            </a:r>
            <a:r>
              <a:rPr lang="zh-CN" altLang="en-US" sz="2400"/>
              <a:t>5 类指标</a:t>
            </a:r>
            <a:r>
              <a:rPr lang="en-US" altLang="zh-CN" sz="2400"/>
              <a:t>：</a:t>
            </a:r>
            <a:endParaRPr lang="en-US" altLang="zh-CN" sz="2400"/>
          </a:p>
          <a:p>
            <a:r>
              <a:rPr lang="en-US" altLang="zh-CN" sz="2400"/>
              <a:t>service：</a:t>
            </a:r>
            <a:r>
              <a:rPr lang="zh-CN" altLang="en-US" sz="2400"/>
              <a:t>请求数、成功率、平均响应时间。</a:t>
            </a:r>
            <a:endParaRPr lang="zh-CN" altLang="en-US" sz="2400"/>
          </a:p>
          <a:p>
            <a:r>
              <a:rPr lang="en-US" altLang="zh-CN" sz="2400"/>
              <a:t>node：</a:t>
            </a:r>
            <a:r>
              <a:rPr lang="zh-CN" altLang="en-US" sz="2400"/>
              <a:t>系统负载、</a:t>
            </a:r>
            <a:r>
              <a:rPr lang="en-US" altLang="zh-CN" sz="2400"/>
              <a:t>IO </a:t>
            </a:r>
            <a:r>
              <a:rPr lang="zh-CN" altLang="en-US" sz="2400"/>
              <a:t>等节点层指标。</a:t>
            </a:r>
            <a:endParaRPr lang="zh-CN" altLang="en-US" sz="2400"/>
          </a:p>
          <a:p>
            <a:r>
              <a:rPr lang="en-US" altLang="zh-CN" sz="2400"/>
              <a:t>container：CPU、</a:t>
            </a:r>
            <a:r>
              <a:rPr lang="zh-CN" altLang="en-US" sz="2400"/>
              <a:t>内存、网络等容器层指标。</a:t>
            </a:r>
            <a:endParaRPr lang="zh-CN" altLang="en-US" sz="2400"/>
          </a:p>
          <a:p>
            <a:r>
              <a:rPr lang="en-US" altLang="zh-CN" sz="2400"/>
              <a:t>jvm：GC、</a:t>
            </a:r>
            <a:r>
              <a:rPr lang="zh-CN" altLang="en-US" sz="2400"/>
              <a:t>线程、内存池等 </a:t>
            </a:r>
            <a:r>
              <a:rPr lang="en-US" altLang="zh-CN" sz="2400"/>
              <a:t>Java </a:t>
            </a:r>
            <a:r>
              <a:rPr lang="zh-CN" altLang="en-US" sz="2400"/>
              <a:t>虚拟机指标。</a:t>
            </a:r>
            <a:endParaRPr lang="zh-CN" altLang="en-US" sz="2400"/>
          </a:p>
          <a:p>
            <a:r>
              <a:rPr lang="en-US" altLang="zh-CN" sz="2400"/>
              <a:t>istio：</a:t>
            </a:r>
            <a:r>
              <a:rPr lang="zh-CN" altLang="en-US" sz="2400"/>
              <a:t>请求流量、响应状态和代理相关指标。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800">
                <a:solidFill>
                  <a:schemeClr val="accent4">
                    <a:lumMod val="75000"/>
                  </a:schemeClr>
                </a:solidFill>
                <a:sym typeface="+mn-ea"/>
              </a:rPr>
              <a:t>多源、多层级、量纲差异很大</a:t>
            </a:r>
            <a:endParaRPr lang="zh-CN" altLang="en-US" sz="2800"/>
          </a:p>
          <a:p>
            <a:endParaRPr lang="zh-CN" altLang="en-US" sz="2800"/>
          </a:p>
        </p:txBody>
      </p:sp>
      <p:sp>
        <p:nvSpPr>
          <p:cNvPr id="3" name="矩形 16"/>
          <p:cNvSpPr/>
          <p:nvPr/>
        </p:nvSpPr>
        <p:spPr bwMode="auto">
          <a:xfrm>
            <a:off x="490220" y="481330"/>
            <a:ext cx="1886585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原始数据</a:t>
            </a: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813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Spark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清洗：统一成</a:t>
            </a: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 clean_metrics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30" y="1075055"/>
            <a:ext cx="7161530" cy="5571490"/>
          </a:xfrm>
          <a:prstGeom prst="rect">
            <a:avLst/>
          </a:prstGeom>
        </p:spPr>
      </p:pic>
      <p:pic>
        <p:nvPicPr>
          <p:cNvPr id="4" name="图片 1" descr="截屏2026-06-09 下午2.33.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020" y="1277620"/>
            <a:ext cx="4288790" cy="10242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452360" y="3227705"/>
            <a:ext cx="46367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/>
              <a:t>1. </a:t>
            </a:r>
            <a:r>
              <a:rPr lang="zh-CN" altLang="en-US" sz="2400"/>
              <a:t>统一格式</a:t>
            </a:r>
            <a:endParaRPr lang="zh-CN" altLang="en-US" sz="2400"/>
          </a:p>
          <a:p>
            <a:endParaRPr lang="en-US" altLang="en-US" sz="2400"/>
          </a:p>
          <a:p>
            <a:r>
              <a:rPr lang="en-US" altLang="en-US" sz="2400"/>
              <a:t>2. </a:t>
            </a:r>
            <a:r>
              <a:rPr lang="zh-CN" altLang="en-US" sz="2400"/>
              <a:t>支持时间序列分析</a:t>
            </a:r>
            <a:endParaRPr lang="zh-CN" altLang="en-US" sz="2400"/>
          </a:p>
          <a:p>
            <a:r>
              <a:rPr lang="en-US" altLang="en-US" sz="2400"/>
              <a:t>object_id + kpi_name + metric_type</a:t>
            </a:r>
            <a:endParaRPr lang="en-US" altLang="en-US" sz="2400"/>
          </a:p>
          <a:p>
            <a:r>
              <a:rPr lang="zh-CN" altLang="en-US" sz="2400"/>
              <a:t>确定一条指标时间序列。</a:t>
            </a:r>
            <a:endParaRPr lang="zh-CN" altLang="en-US" sz="2400"/>
          </a:p>
          <a:p>
            <a:endParaRPr lang="en-US" altLang="en-US" sz="2400"/>
          </a:p>
          <a:p>
            <a:r>
              <a:rPr lang="en-US" altLang="en-US" sz="2400"/>
              <a:t>3. </a:t>
            </a:r>
            <a:r>
              <a:rPr lang="zh-CN" altLang="en-US" sz="2400"/>
              <a:t>支持后续算法复用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813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V1：IQR Baseline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算法介绍</a:t>
            </a: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3" name="圆角矩形 1"/>
          <p:cNvSpPr/>
          <p:nvPr/>
        </p:nvSpPr>
        <p:spPr>
          <a:xfrm>
            <a:off x="0" y="1007110"/>
            <a:ext cx="9019540" cy="43027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635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>
                <a:solidFill>
                  <a:schemeClr val="tx1"/>
                </a:solidFill>
              </a:rPr>
              <a:t>Q1 = 25% </a:t>
            </a:r>
            <a:r>
              <a:rPr lang="zh-CN" altLang="en-US" sz="2400">
                <a:solidFill>
                  <a:schemeClr val="tx1"/>
                </a:solidFill>
              </a:rPr>
              <a:t>分位数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Q3 = 75% </a:t>
            </a:r>
            <a:r>
              <a:rPr lang="zh-CN" altLang="en-US" sz="2400">
                <a:solidFill>
                  <a:schemeClr val="tx1"/>
                </a:solidFill>
              </a:rPr>
              <a:t>分位数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IQR = Q3 - Q1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lower_bound = Q1 - 1.5 * IQR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upper_bound = Q3 + 1.5 * IQR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endParaRPr lang="en-US" altLang="en-US" sz="2400">
              <a:solidFill>
                <a:schemeClr val="tx1"/>
              </a:solidFill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value &lt; lower_bound or value &gt; upper_bound</a:t>
            </a:r>
            <a:endParaRPr lang="en-US" altLang="zh-CN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en-US" sz="2400">
                <a:solidFill>
                  <a:schemeClr val="tx1"/>
                </a:solidFill>
                <a:sym typeface="+mn-ea"/>
              </a:rPr>
              <a:t>↓</a:t>
            </a:r>
            <a:endParaRPr lang="zh-CN" altLang="en-US" sz="24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  <a:p>
            <a:pPr marL="0" indent="0" algn="ctr"/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判为异常</a:t>
            </a:r>
            <a:endParaRPr lang="zh-CN" altLang="en-US" sz="24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4" name="圆角矩形 1"/>
          <p:cNvSpPr/>
          <p:nvPr/>
        </p:nvSpPr>
        <p:spPr>
          <a:xfrm>
            <a:off x="8240395" y="1007110"/>
            <a:ext cx="4178935" cy="56451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635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clean_metrics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↓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筛选</a:t>
            </a:r>
            <a:r>
              <a:rPr lang="en-US" altLang="en-US">
                <a:solidFill>
                  <a:schemeClr val="tx1"/>
                </a:solidFill>
              </a:rPr>
              <a:t> metric_type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↓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按</a:t>
            </a:r>
            <a:r>
              <a:rPr lang="en-US" altLang="en-US">
                <a:solidFill>
                  <a:schemeClr val="tx1"/>
                </a:solidFill>
              </a:rPr>
              <a:t> object_id + kpi_name + metric_type </a:t>
            </a:r>
            <a:r>
              <a:rPr lang="zh-CN" altLang="en-US">
                <a:solidFill>
                  <a:schemeClr val="tx1"/>
                </a:solidFill>
              </a:rPr>
              <a:t>分组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↓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计算</a:t>
            </a:r>
            <a:r>
              <a:rPr lang="en-US" altLang="en-US">
                <a:solidFill>
                  <a:schemeClr val="tx1"/>
                </a:solidFill>
              </a:rPr>
              <a:t> IQR </a:t>
            </a:r>
            <a:r>
              <a:rPr lang="zh-CN" altLang="en-US">
                <a:solidFill>
                  <a:schemeClr val="tx1"/>
                </a:solidFill>
              </a:rPr>
              <a:t>上下界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↓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join </a:t>
            </a:r>
            <a:r>
              <a:rPr lang="zh-CN" altLang="en-US">
                <a:solidFill>
                  <a:schemeClr val="tx1"/>
                </a:solidFill>
              </a:rPr>
              <a:t>回每个时间点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↓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筛选</a:t>
            </a:r>
            <a:r>
              <a:rPr lang="en-US" altLang="en-US">
                <a:solidFill>
                  <a:schemeClr val="tx1"/>
                </a:solidFill>
              </a:rPr>
              <a:t> anomaly_points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6410" y="5499100"/>
            <a:ext cx="4672330" cy="1153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/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- 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不依赖标签。</a:t>
            </a:r>
            <a:endParaRPr lang="zh-CN" altLang="en-US" sz="20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/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- 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实现简单、可解释性强。</a:t>
            </a:r>
            <a:endParaRPr lang="zh-CN" altLang="en-US" sz="20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/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- 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适合 </a:t>
            </a:r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Spark 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在大规模数据上完成</a:t>
            </a:r>
            <a:endParaRPr lang="zh-CN" altLang="en-US" sz="20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27905" y="5742940"/>
            <a:ext cx="4341495" cy="664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/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IQR 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只看分位数边界，比较敏感，容易把普通波动也标成异常。</a:t>
            </a:r>
            <a:endParaRPr lang="zh-CN" altLang="en-US" sz="20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endParaRPr lang="zh-CN" altLang="en-US" sz="20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86410" y="5010785"/>
            <a:ext cx="4218940" cy="488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作为</a:t>
            </a:r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Baseline</a:t>
            </a:r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的优点</a:t>
            </a:r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：</a:t>
            </a:r>
            <a:endParaRPr lang="en-US" altLang="zh-CN" sz="20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  <a:p>
            <a:endParaRPr lang="en-US" altLang="zh-CN" sz="20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827905" y="5130800"/>
            <a:ext cx="3289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/>
            <a:r>
              <a:rPr lang="zh-CN" altLang="en-US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局限性</a:t>
            </a:r>
            <a:r>
              <a:rPr lang="en-US" altLang="zh-CN" sz="20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：</a:t>
            </a:r>
            <a:endParaRPr lang="en-US" altLang="zh-CN" sz="20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539865" y="818515"/>
            <a:ext cx="5424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Menlo Regular" panose="020B0609030804020204" charset="0"/>
                <a:cs typeface="Menlo Regular" panose="020B0609030804020204" charset="0"/>
              </a:rPr>
              <a:t>为每条指标序列单独计算</a:t>
            </a:r>
            <a:r>
              <a:rPr lang="en-US" altLang="en-US">
                <a:latin typeface="Menlo Regular" panose="020B0609030804020204" charset="0"/>
                <a:cs typeface="Menlo Regular" panose="020B0609030804020204" charset="0"/>
              </a:rPr>
              <a:t> IQR </a:t>
            </a:r>
            <a:r>
              <a:rPr lang="zh-CN" altLang="en-US">
                <a:latin typeface="Menlo Regular" panose="020B0609030804020204" charset="0"/>
                <a:cs typeface="Menlo Regular" panose="020B0609030804020204" charset="0"/>
              </a:rPr>
              <a:t>阈值，避免使用全局阈值造成误判。</a:t>
            </a:r>
            <a:endParaRPr lang="zh-CN" altLang="en-US">
              <a:latin typeface="Menlo Regular" panose="020B0609030804020204" charset="0"/>
              <a:cs typeface="Menlo Regular" panose="020B0609030804020204" charset="0"/>
            </a:endParaRPr>
          </a:p>
        </p:txBody>
      </p:sp>
      <p:cxnSp>
        <p:nvCxnSpPr>
          <p:cNvPr id="11" name="Curved Connector 10"/>
          <p:cNvCxnSpPr/>
          <p:nvPr/>
        </p:nvCxnSpPr>
        <p:spPr>
          <a:xfrm rot="16200000" flipV="1">
            <a:off x="10068560" y="2248535"/>
            <a:ext cx="2387600" cy="530225"/>
          </a:xfrm>
          <a:prstGeom prst="curvedConnector3">
            <a:avLst>
              <a:gd name="adj1" fmla="val 4998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813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V1：IQR Baseline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5" name="图片 4" descr="截屏2026-06-09 下午2.55.02"/>
          <p:cNvPicPr>
            <a:picLocks noChangeAspect="1"/>
          </p:cNvPicPr>
          <p:nvPr/>
        </p:nvPicPr>
        <p:blipFill>
          <a:blip r:embed="rId1"/>
          <a:srcRect t="25872" r="28806"/>
          <a:stretch>
            <a:fillRect/>
          </a:stretch>
        </p:blipFill>
        <p:spPr>
          <a:xfrm>
            <a:off x="290830" y="1327150"/>
            <a:ext cx="5358765" cy="5016500"/>
          </a:xfrm>
          <a:prstGeom prst="ellipse">
            <a:avLst/>
          </a:prstGeom>
        </p:spPr>
      </p:pic>
      <p:pic>
        <p:nvPicPr>
          <p:cNvPr id="8" name="图片 7" descr="截屏2026-06-09 下午2.58.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20" y="3658235"/>
            <a:ext cx="2520950" cy="35433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95" y="2948305"/>
            <a:ext cx="3108325" cy="3395345"/>
          </a:xfrm>
          <a:prstGeom prst="rect">
            <a:avLst/>
          </a:prstGeom>
        </p:spPr>
      </p:pic>
      <p:pic>
        <p:nvPicPr>
          <p:cNvPr id="9" name="图片 8" descr="截屏2026-06-09 下午3.02.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595" y="1495425"/>
            <a:ext cx="4269105" cy="1174115"/>
          </a:xfrm>
          <a:prstGeom prst="rect">
            <a:avLst/>
          </a:prstGeom>
          <a:effectLst/>
        </p:spPr>
      </p:pic>
      <p:sp>
        <p:nvSpPr>
          <p:cNvPr id="4" name="Text Box 3"/>
          <p:cNvSpPr txBox="1"/>
          <p:nvPr/>
        </p:nvSpPr>
        <p:spPr>
          <a:xfrm>
            <a:off x="9060180" y="3322320"/>
            <a:ext cx="3131820" cy="2851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1. container </a:t>
            </a:r>
            <a:r>
              <a:rPr lang="zh-CN" altLang="en-US" sz="2400"/>
              <a:t>和</a:t>
            </a:r>
            <a:r>
              <a:rPr lang="en-US" altLang="en-US" sz="2400"/>
              <a:t> istio </a:t>
            </a:r>
            <a:r>
              <a:rPr lang="zh-CN" altLang="en-US" sz="2400"/>
              <a:t>异常点最多</a:t>
            </a:r>
            <a:endParaRPr lang="en-US" altLang="zh-CN" sz="2400"/>
          </a:p>
          <a:p>
            <a:endParaRPr lang="zh-CN" altLang="en-US" sz="2400"/>
          </a:p>
          <a:p>
            <a:r>
              <a:rPr lang="en-US" altLang="en-US" sz="2400"/>
              <a:t>2. V1 </a:t>
            </a:r>
            <a:r>
              <a:rPr lang="zh-CN" altLang="en-US" sz="2400"/>
              <a:t>总异常点较多，需要提高异常置信度</a:t>
            </a:r>
            <a:endParaRPr lang="zh-CN" altLang="en-US" sz="2400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6-09 下午3.05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" y="2458085"/>
            <a:ext cx="5448300" cy="4330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0830" y="1244600"/>
            <a:ext cx="7113905" cy="104775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400" b="0" i="0">
                <a:solidFill>
                  <a:srgbClr val="31333F"/>
                </a:solidFill>
                <a:latin typeface="Menlo" panose="020B0609030804020204"/>
                <a:ea typeface="Menlo" panose="020B0609030804020204"/>
              </a:rPr>
              <a:t>IQR :</a:t>
            </a:r>
            <a:r>
              <a:rPr lang="zh-CN" altLang="en-US" sz="2400" b="0" i="0">
                <a:solidFill>
                  <a:srgbClr val="31333F"/>
                </a:solidFill>
                <a:latin typeface="Menlo" panose="020B0609030804020204"/>
                <a:ea typeface="Menlo" panose="020B0609030804020204"/>
              </a:rPr>
              <a:t>一个点是否超出分位数边界。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/>
            <a:r>
              <a:rPr lang="en-US" altLang="zh-CN" sz="2400" b="0" i="0">
                <a:solidFill>
                  <a:srgbClr val="31333F"/>
                </a:solidFill>
                <a:latin typeface="Menlo" panose="020B0609030804020204"/>
                <a:ea typeface="Menlo" panose="020B0609030804020204"/>
              </a:rPr>
              <a:t>Z-score :</a:t>
            </a:r>
            <a:r>
              <a:rPr lang="zh-CN" altLang="en-US" sz="2400" b="0" i="0">
                <a:solidFill>
                  <a:srgbClr val="31333F"/>
                </a:solidFill>
                <a:latin typeface="Menlo" panose="020B0609030804020204"/>
                <a:ea typeface="Menlo" panose="020B0609030804020204"/>
              </a:rPr>
              <a:t>这个点相对均值偏离了多少个标准差。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/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/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69030" y="5749925"/>
            <a:ext cx="15474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accent4">
                    <a:lumMod val="75000"/>
                  </a:schemeClr>
                </a:solidFill>
                <a:latin typeface="Menlo" panose="020B0609030804020204"/>
                <a:ea typeface="Menlo" panose="020B0609030804020204"/>
                <a:sym typeface="+mn-ea"/>
              </a:rPr>
              <a:t>严格策略</a:t>
            </a:r>
            <a:endParaRPr lang="zh-CN" altLang="en-US" sz="2400">
              <a:solidFill>
                <a:schemeClr val="accent4">
                  <a:lumMod val="75000"/>
                </a:schemeClr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98475" y="5623560"/>
            <a:ext cx="2928620" cy="8210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16"/>
          <p:cNvSpPr/>
          <p:nvPr/>
        </p:nvSpPr>
        <p:spPr bwMode="auto">
          <a:xfrm>
            <a:off x="290830" y="35623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V2：IQR +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算法介绍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10" name="圆角矩形 1"/>
          <p:cNvSpPr/>
          <p:nvPr/>
        </p:nvSpPr>
        <p:spPr>
          <a:xfrm>
            <a:off x="7198360" y="527685"/>
            <a:ext cx="4862195" cy="62611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635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>
                <a:solidFill>
                  <a:schemeClr val="tx1"/>
                </a:solidFill>
              </a:rPr>
              <a:t>clean_metrics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↓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按</a:t>
            </a:r>
            <a:r>
              <a:rPr lang="en-US" altLang="en-US" sz="2400">
                <a:solidFill>
                  <a:schemeClr val="tx1"/>
                </a:solidFill>
              </a:rPr>
              <a:t> object_id + kpi_name + metric_type </a:t>
            </a:r>
            <a:r>
              <a:rPr lang="zh-CN" altLang="en-US" sz="2400">
                <a:solidFill>
                  <a:schemeClr val="tx1"/>
                </a:solidFill>
              </a:rPr>
              <a:t>分组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↓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同时计算</a:t>
            </a:r>
            <a:r>
              <a:rPr lang="en-US" altLang="en-US" sz="2400">
                <a:solidFill>
                  <a:schemeClr val="tx1"/>
                </a:solidFill>
              </a:rPr>
              <a:t> IQR </a:t>
            </a:r>
            <a:r>
              <a:rPr lang="zh-CN" altLang="en-US" sz="2400">
                <a:solidFill>
                  <a:schemeClr val="tx1"/>
                </a:solidFill>
              </a:rPr>
              <a:t>阈值、</a:t>
            </a:r>
            <a:r>
              <a:rPr lang="en-US" altLang="en-US" sz="2400">
                <a:solidFill>
                  <a:schemeClr val="tx1"/>
                </a:solidFill>
              </a:rPr>
              <a:t>mean</a:t>
            </a:r>
            <a:r>
              <a:rPr lang="zh-CN" altLang="en-US" sz="2400">
                <a:solidFill>
                  <a:schemeClr val="tx1"/>
                </a:solidFill>
              </a:rPr>
              <a:t>、</a:t>
            </a:r>
            <a:r>
              <a:rPr lang="en-US" altLang="en-US" sz="2400">
                <a:solidFill>
                  <a:schemeClr val="tx1"/>
                </a:solidFill>
              </a:rPr>
              <a:t>std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↓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join </a:t>
            </a:r>
            <a:r>
              <a:rPr lang="zh-CN" altLang="en-US" sz="2400">
                <a:solidFill>
                  <a:schemeClr val="tx1"/>
                </a:solidFill>
              </a:rPr>
              <a:t>回每个时间点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↓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分别判断</a:t>
            </a:r>
            <a:r>
              <a:rPr lang="en-US" altLang="en-US" sz="2400">
                <a:solidFill>
                  <a:schemeClr val="tx1"/>
                </a:solidFill>
              </a:rPr>
              <a:t> IQR </a:t>
            </a:r>
            <a:r>
              <a:rPr lang="zh-CN" altLang="en-US" sz="2400">
                <a:solidFill>
                  <a:schemeClr val="tx1"/>
                </a:solidFill>
              </a:rPr>
              <a:t>异常和</a:t>
            </a:r>
            <a:r>
              <a:rPr lang="en-US" altLang="en-US" sz="2400">
                <a:solidFill>
                  <a:schemeClr val="tx1"/>
                </a:solidFill>
              </a:rPr>
              <a:t> Z-score </a:t>
            </a:r>
            <a:r>
              <a:rPr lang="zh-CN" altLang="en-US" sz="2400">
                <a:solidFill>
                  <a:schemeClr val="tx1"/>
                </a:solidFill>
              </a:rPr>
              <a:t>异常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</a:rPr>
              <a:t>↓</a:t>
            </a:r>
            <a:endParaRPr lang="en-US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取交集作为最终异常点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813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V2：IQR +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3" name="图片 2" descr="截屏2026-06-09 下午3.06.13"/>
          <p:cNvPicPr>
            <a:picLocks noChangeAspect="1"/>
          </p:cNvPicPr>
          <p:nvPr/>
        </p:nvPicPr>
        <p:blipFill>
          <a:blip r:embed="rId1"/>
          <a:srcRect l="-234" t="517" r="11306" b="-517"/>
          <a:stretch>
            <a:fillRect/>
          </a:stretch>
        </p:blipFill>
        <p:spPr>
          <a:xfrm>
            <a:off x="-5753735" y="1351915"/>
            <a:ext cx="11535410" cy="10759440"/>
          </a:xfrm>
          <a:prstGeom prst="arc">
            <a:avLst/>
          </a:prstGeom>
        </p:spPr>
      </p:pic>
      <p:pic>
        <p:nvPicPr>
          <p:cNvPr id="7" name="图片 6" descr="截屏2026-06-09 下午3.10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840" y="2181860"/>
            <a:ext cx="2064385" cy="989965"/>
          </a:xfrm>
          <a:prstGeom prst="rect">
            <a:avLst/>
          </a:prstGeom>
        </p:spPr>
      </p:pic>
      <p:pic>
        <p:nvPicPr>
          <p:cNvPr id="8" name="图片 7" descr="截屏2026-06-09 下午3.11.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775" y="2025650"/>
            <a:ext cx="6616700" cy="9525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22470" y="4342765"/>
            <a:ext cx="74028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1. </a:t>
            </a:r>
            <a:r>
              <a:rPr lang="zh-CN" altLang="en-US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异常更加聚焦</a:t>
            </a:r>
            <a:r>
              <a:rPr lang="en-US" altLang="zh-CN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、</a:t>
            </a:r>
            <a:r>
              <a:rPr lang="zh-CN" altLang="en-US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收紧效果明显</a:t>
            </a:r>
            <a:r>
              <a:rPr lang="en-US" altLang="zh-CN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、</a:t>
            </a:r>
            <a:r>
              <a:rPr lang="zh-CN" altLang="en-US" sz="2800" b="1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  <a:sym typeface="+mn-ea"/>
              </a:rPr>
              <a:t>噪声更少</a:t>
            </a:r>
            <a:endParaRPr lang="zh-CN" altLang="en-US" sz="2800" b="1" i="0">
              <a:solidFill>
                <a:srgbClr val="31333F"/>
              </a:solidFill>
              <a:latin typeface="Menlo Bold" panose="020B0609030804020204" charset="0"/>
              <a:ea typeface="Menlo" panose="020B0609030804020204"/>
            </a:endParaRPr>
          </a:p>
          <a:p>
            <a:r>
              <a:rPr lang="en-US" altLang="zh-CN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2. </a:t>
            </a:r>
            <a:r>
              <a:rPr lang="zh-CN" altLang="en-US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符合</a:t>
            </a:r>
            <a:r>
              <a:rPr lang="en-US" altLang="en-US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“</a:t>
            </a:r>
            <a:r>
              <a:rPr lang="zh-CN" altLang="en-US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提高异常判断可靠性</a:t>
            </a:r>
            <a:r>
              <a:rPr lang="en-US" altLang="en-US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”</a:t>
            </a:r>
            <a:r>
              <a:rPr lang="zh-CN" altLang="en-US" sz="2800" b="1" i="0">
                <a:solidFill>
                  <a:srgbClr val="31333F"/>
                </a:solidFill>
                <a:latin typeface="Menlo Bold" panose="020B0609030804020204" charset="0"/>
                <a:ea typeface="Menlo" panose="020B0609030804020204"/>
              </a:rPr>
              <a:t>的目标</a:t>
            </a:r>
            <a:endParaRPr lang="zh-CN" altLang="en-US" sz="2800" b="1" i="0">
              <a:solidFill>
                <a:srgbClr val="31333F"/>
              </a:solidFill>
              <a:latin typeface="Menlo Bold" panose="020B0609030804020204" charset="0"/>
              <a:ea typeface="Menlo" panose="020B0609030804020204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6-09 下午3.14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0" y="1325880"/>
            <a:ext cx="11567160" cy="5339080"/>
          </a:xfrm>
          <a:prstGeom prst="rect">
            <a:avLst/>
          </a:prstGeom>
        </p:spPr>
      </p:pic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V2：IQR +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24450" y="865505"/>
            <a:ext cx="6907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异常具有时间聚集性，监控数据存在局部动态变化</a:t>
            </a:r>
            <a:endParaRPr lang="zh-CN" alt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4563110" y="1292860"/>
            <a:ext cx="7176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ym typeface="+mn-ea"/>
              </a:rPr>
              <a:t>V2</a:t>
            </a:r>
            <a:r>
              <a:rPr lang="zh-CN" altLang="en-US" sz="2400">
                <a:sym typeface="+mn-ea"/>
              </a:rPr>
              <a:t>仍使用全局静态统计量，难以捕捉局部时间异常</a:t>
            </a:r>
            <a:endParaRPr lang="zh-CN" altLang="en-US" sz="240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46195" y="1815465"/>
            <a:ext cx="8185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提升思路一</a:t>
            </a:r>
            <a:r>
              <a:rPr lang="en-US" altLang="zh-CN" sz="2400">
                <a:sym typeface="+mn-ea"/>
              </a:rPr>
              <a:t>：</a:t>
            </a:r>
            <a:r>
              <a:rPr lang="zh-CN" altLang="en-US" sz="2400"/>
              <a:t>从全局静态统计转向滑动窗口局部统计</a:t>
            </a:r>
            <a:r>
              <a:rPr lang="en-US" altLang="zh-CN" sz="2400"/>
              <a:t>(V3)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截屏2026-06-09 下午3.16.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221740"/>
            <a:ext cx="11523345" cy="53778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87745" y="761365"/>
            <a:ext cx="555498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400" b="0" i="0">
                <a:solidFill>
                  <a:schemeClr val="tx1"/>
                </a:solidFill>
                <a:latin typeface="Source Sans"/>
                <a:ea typeface="Source Sans"/>
              </a:rPr>
              <a:t>某些指标之间存在明显的共同异常关系。</a:t>
            </a:r>
            <a:endParaRPr lang="zh-CN" altLang="en-US" sz="2400" b="0" i="0">
              <a:solidFill>
                <a:schemeClr val="tx1"/>
              </a:solidFill>
              <a:latin typeface="Source Sans"/>
              <a:ea typeface="Source Sans"/>
            </a:endParaRPr>
          </a:p>
        </p:txBody>
      </p:sp>
      <p:sp>
        <p:nvSpPr>
          <p:cNvPr id="2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V2：IQR +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905500" y="1320800"/>
            <a:ext cx="53517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提升思路二</a:t>
            </a:r>
            <a:r>
              <a:rPr lang="en-US" altLang="zh-CN" sz="2400">
                <a:sym typeface="+mn-ea"/>
              </a:rPr>
              <a:t>：</a:t>
            </a:r>
            <a:r>
              <a:rPr lang="zh-CN" altLang="en-US" sz="2400">
                <a:sym typeface="+mn-ea"/>
              </a:rPr>
              <a:t>多指标融合检测</a:t>
            </a:r>
            <a:r>
              <a:rPr lang="en-US" altLang="zh-CN" sz="2400">
                <a:sym typeface="+mn-ea"/>
              </a:rPr>
              <a:t>(V4)</a:t>
            </a:r>
            <a:endParaRPr lang="en-US" altLang="zh-CN" sz="24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V3：Window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算法介绍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06680" y="1119505"/>
            <a:ext cx="8491220" cy="53130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635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window = </a:t>
            </a:r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当前点 + 前 100 个历史点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window_mean = </a:t>
            </a:r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窗口均值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window_std = </a:t>
            </a:r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窗口标准差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window_z_score = </a:t>
            </a:r>
            <a:endParaRPr lang="en-US" altLang="zh-CN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(value - window_mean) / window_std</a:t>
            </a:r>
            <a:endParaRPr lang="en-US" altLang="zh-CN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endParaRPr lang="en-US" altLang="zh-CN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if abs(window_z_score) &gt; 3.0</a:t>
            </a:r>
            <a:endParaRPr lang="en-US" altLang="zh-CN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and </a:t>
            </a:r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窗口点数 ≥ 30</a:t>
            </a:r>
            <a:endParaRPr lang="zh-CN" altLang="en-US" sz="24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判为局部异常</a:t>
            </a:r>
            <a:endParaRPr lang="zh-CN" altLang="en-US" sz="24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906385" y="1119505"/>
            <a:ext cx="383413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window_z_score</a:t>
            </a:r>
            <a:r>
              <a:rPr lang="en-US" altLang="en-US" sz="2400"/>
              <a:t> = 3.0</a:t>
            </a:r>
            <a:endParaRPr lang="en-US" altLang="en-US" sz="2400"/>
          </a:p>
          <a:p>
            <a:r>
              <a:rPr lang="zh-CN" altLang="en-US" sz="2400"/>
              <a:t>表示当前点偏离窗口均值超过</a:t>
            </a:r>
            <a:r>
              <a:rPr lang="en-US" altLang="en-US" sz="2400"/>
              <a:t> 3 </a:t>
            </a:r>
            <a:r>
              <a:rPr lang="zh-CN" altLang="en-US" sz="2400"/>
              <a:t>个标准差时，认为异常；</a:t>
            </a:r>
            <a:endParaRPr lang="zh-CN" altLang="en-US" sz="2400"/>
          </a:p>
          <a:p>
            <a:r>
              <a:rPr lang="zh-CN" altLang="en-US" sz="2400"/>
              <a:t>这是</a:t>
            </a:r>
            <a:r>
              <a:rPr lang="en-US" altLang="en-US" sz="2400"/>
              <a:t> Z-score </a:t>
            </a:r>
            <a:r>
              <a:rPr lang="zh-CN" altLang="en-US" sz="2400"/>
              <a:t>异常检测中常用的经验阈值，用于筛选显著偏离点。</a:t>
            </a:r>
            <a:endParaRPr lang="zh-CN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zh-CN" altLang="en-US" sz="24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窗口点数 ≥ 30</a:t>
            </a:r>
            <a:r>
              <a:rPr lang="en-US" altLang="en-US" sz="2400"/>
              <a:t> </a:t>
            </a:r>
            <a:endParaRPr lang="en-US" altLang="en-US" sz="2400"/>
          </a:p>
          <a:p>
            <a:r>
              <a:rPr lang="zh-CN" altLang="en-US" sz="2400"/>
              <a:t>窗口内至少需要</a:t>
            </a:r>
            <a:r>
              <a:rPr lang="en-US" altLang="en-US" sz="2400"/>
              <a:t> 30 </a:t>
            </a:r>
            <a:r>
              <a:rPr lang="zh-CN" altLang="en-US" sz="2400"/>
              <a:t>个点才进行判断；</a:t>
            </a:r>
            <a:endParaRPr lang="zh-CN" altLang="en-US" sz="2400"/>
          </a:p>
          <a:p>
            <a:r>
              <a:rPr lang="zh-CN" altLang="en-US" sz="2400"/>
              <a:t>避免窗口太短时均值和标准差不稳定，减少误判。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V3：Window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5" name="图片 4" descr="截屏2026-06-09 下午3.19.54"/>
          <p:cNvPicPr>
            <a:picLocks noChangeAspect="1"/>
          </p:cNvPicPr>
          <p:nvPr/>
        </p:nvPicPr>
        <p:blipFill>
          <a:blip r:embed="rId1"/>
          <a:srcRect t="14903" r="30924"/>
          <a:stretch>
            <a:fillRect/>
          </a:stretch>
        </p:blipFill>
        <p:spPr>
          <a:xfrm>
            <a:off x="290830" y="1164590"/>
            <a:ext cx="5712460" cy="5305425"/>
          </a:xfrm>
          <a:prstGeom prst="rect">
            <a:avLst/>
          </a:prstGeom>
        </p:spPr>
      </p:pic>
      <p:pic>
        <p:nvPicPr>
          <p:cNvPr id="6" name="图片 5" descr="截屏2026-06-09 下午3.20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0" y="1164590"/>
            <a:ext cx="2188210" cy="1000760"/>
          </a:xfrm>
          <a:prstGeom prst="rect">
            <a:avLst/>
          </a:prstGeom>
        </p:spPr>
      </p:pic>
      <p:pic>
        <p:nvPicPr>
          <p:cNvPr id="7" name="图片 6" descr="截屏2026-06-09 下午3.21.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70" y="1377315"/>
            <a:ext cx="1943100" cy="1016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433185" y="4596130"/>
            <a:ext cx="55321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V3 </a:t>
            </a:r>
            <a:r>
              <a:rPr lang="zh-CN" altLang="en-US" sz="2400"/>
              <a:t>使用局部窗口统计，能发现一些在全局范围内不极端、但在局部时间段内明显偏离的点。</a:t>
            </a:r>
            <a:endParaRPr lang="zh-CN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85" y="2721610"/>
            <a:ext cx="4797425" cy="12934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6-09 下午3.24.49"/>
          <p:cNvPicPr>
            <a:picLocks noChangeAspect="1"/>
          </p:cNvPicPr>
          <p:nvPr/>
        </p:nvPicPr>
        <p:blipFill>
          <a:blip r:embed="rId1"/>
          <a:srcRect t="14714"/>
          <a:stretch>
            <a:fillRect/>
          </a:stretch>
        </p:blipFill>
        <p:spPr>
          <a:xfrm>
            <a:off x="-128270" y="1539240"/>
            <a:ext cx="9556750" cy="4878705"/>
          </a:xfrm>
          <a:prstGeom prst="rect">
            <a:avLst/>
          </a:prstGeom>
        </p:spPr>
      </p:pic>
      <p:pic>
        <p:nvPicPr>
          <p:cNvPr id="3" name="图片 2" descr="截屏2026-06-09 下午3.25.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85" y="6417945"/>
            <a:ext cx="2501900" cy="330200"/>
          </a:xfrm>
          <a:prstGeom prst="rect">
            <a:avLst/>
          </a:prstGeom>
        </p:spPr>
      </p:pic>
      <p:pic>
        <p:nvPicPr>
          <p:cNvPr id="5" name="图片 4" descr="截屏2026-06-09 下午3.42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230" y="3002280"/>
            <a:ext cx="5375275" cy="3415665"/>
          </a:xfrm>
          <a:prstGeom prst="rect">
            <a:avLst/>
          </a:prstGeom>
        </p:spPr>
      </p:pic>
      <p:sp>
        <p:nvSpPr>
          <p:cNvPr id="6" name="矩形 16"/>
          <p:cNvSpPr/>
          <p:nvPr/>
        </p:nvSpPr>
        <p:spPr bwMode="auto">
          <a:xfrm>
            <a:off x="290830" y="4940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V3：Window Z-score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070725" y="575945"/>
            <a:ext cx="59563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V2 </a:t>
            </a:r>
            <a:r>
              <a:rPr lang="zh-CN" altLang="en-US" sz="2400"/>
              <a:t>中</a:t>
            </a:r>
            <a:r>
              <a:rPr lang="en-US" altLang="en-US" sz="2400"/>
              <a:t> service </a:t>
            </a:r>
            <a:r>
              <a:rPr lang="zh-CN" altLang="en-US" sz="2400"/>
              <a:t>异常主要集中在</a:t>
            </a:r>
            <a:r>
              <a:rPr lang="en-US" altLang="en-US" sz="2400"/>
              <a:t> mrt</a:t>
            </a:r>
            <a:r>
              <a:rPr lang="zh-CN" altLang="en-US" sz="2400"/>
              <a:t>，</a:t>
            </a:r>
            <a:r>
              <a:rPr lang="en-US" altLang="en-US" sz="2400"/>
              <a:t>count </a:t>
            </a:r>
            <a:r>
              <a:rPr lang="zh-CN" altLang="en-US" sz="2400"/>
              <a:t>只零星出现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V4：MultiMetric Fusion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算法介绍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5" name="圆角矩形 1"/>
          <p:cNvSpPr/>
          <p:nvPr/>
        </p:nvSpPr>
        <p:spPr>
          <a:xfrm>
            <a:off x="290830" y="1105535"/>
            <a:ext cx="10812780" cy="54457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635000"/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indent="0" algn="ctr"/>
            <a:r>
              <a:rPr lang="zh-CN" altLang="en-US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先按 </a:t>
            </a:r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object_id + timestamp </a:t>
            </a:r>
            <a:r>
              <a:rPr lang="zh-CN" altLang="en-US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做</a:t>
            </a:r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pivot</a:t>
            </a:r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zh-CN" altLang="en-US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把多个</a:t>
            </a:r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KPI</a:t>
            </a:r>
            <a:r>
              <a:rPr lang="zh-CN" altLang="en-US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放到同一行</a:t>
            </a:r>
            <a:endParaRPr lang="zh-CN" altLang="en-US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z_i = (x_i - mean_i) / std_i</a:t>
            </a:r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anomaly_metric_count = count(abs(z_i) &gt; 3.0)</a:t>
            </a:r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if anomaly_metric_count ≥ 2</a:t>
            </a:r>
            <a:endParaRPr lang="en-US" altLang="zh-CN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zh-CN" altLang="en-US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→ 判为多指标融合异常</a:t>
            </a:r>
            <a:endParaRPr lang="zh-CN" altLang="en-US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endParaRPr lang="zh-CN" altLang="en-US" sz="2800" b="0" i="0">
              <a:solidFill>
                <a:srgbClr val="31333F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ctr"/>
            <a:r>
              <a:rPr lang="en-US" altLang="zh-CN" sz="2800">
                <a:solidFill>
                  <a:srgbClr val="31333F"/>
                </a:solidFill>
                <a:latin typeface="Menlo" panose="020B0609030804020204"/>
                <a:ea typeface="Menlo" panose="020B0609030804020204"/>
                <a:sym typeface="+mn-ea"/>
              </a:rPr>
              <a:t>max_abs_z_score = max(abs(z_i))</a:t>
            </a:r>
            <a:endParaRPr lang="en-US" altLang="zh-CN" sz="2800">
              <a:solidFill>
                <a:srgbClr val="31333F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6-09 下午3.53.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6555"/>
            <a:ext cx="12192000" cy="3564890"/>
          </a:xfrm>
          <a:prstGeom prst="rect">
            <a:avLst/>
          </a:prstGeom>
        </p:spPr>
      </p:pic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V4：MultiMetric Fusion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异常样例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6-09 下午3.46.44"/>
          <p:cNvPicPr>
            <a:picLocks noChangeAspect="1"/>
          </p:cNvPicPr>
          <p:nvPr/>
        </p:nvPicPr>
        <p:blipFill>
          <a:blip r:embed="rId1"/>
          <a:srcRect t="11297"/>
          <a:stretch>
            <a:fillRect/>
          </a:stretch>
        </p:blipFill>
        <p:spPr>
          <a:xfrm>
            <a:off x="290830" y="865505"/>
            <a:ext cx="6118225" cy="5918200"/>
          </a:xfrm>
          <a:prstGeom prst="rect">
            <a:avLst/>
          </a:prstGeom>
        </p:spPr>
      </p:pic>
      <p:sp>
        <p:nvSpPr>
          <p:cNvPr id="3" name="矩形 16"/>
          <p:cNvSpPr/>
          <p:nvPr/>
        </p:nvSpPr>
        <p:spPr bwMode="auto">
          <a:xfrm>
            <a:off x="290830" y="375285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V4：MultiMetric Fusion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结果分析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55" y="1042035"/>
            <a:ext cx="1854200" cy="14732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09055" y="2595245"/>
            <a:ext cx="518033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多指标融合异常主要集中在</a:t>
            </a:r>
            <a:r>
              <a:rPr lang="en-US" altLang="en-US" sz="2400"/>
              <a:t> istio </a:t>
            </a:r>
            <a:r>
              <a:rPr lang="zh-CN" altLang="en-US" sz="2400"/>
              <a:t>和</a:t>
            </a:r>
            <a:r>
              <a:rPr lang="en-US" altLang="en-US" sz="2400"/>
              <a:t> container</a:t>
            </a:r>
            <a:r>
              <a:rPr lang="zh-CN" altLang="en-US" sz="2400"/>
              <a:t>，说明服务网格和容器层更容易出现多个</a:t>
            </a:r>
            <a:r>
              <a:rPr lang="en-US" altLang="en-US" sz="2400"/>
              <a:t> KPI </a:t>
            </a:r>
            <a:r>
              <a:rPr lang="zh-CN" altLang="en-US" sz="2400"/>
              <a:t>同时异常的系统性波动；</a:t>
            </a:r>
            <a:r>
              <a:rPr lang="en-US" altLang="en-US" sz="2400"/>
              <a:t>service </a:t>
            </a:r>
            <a:r>
              <a:rPr lang="zh-CN" altLang="en-US" sz="2400"/>
              <a:t>和</a:t>
            </a:r>
            <a:r>
              <a:rPr lang="en-US" altLang="en-US" sz="2400"/>
              <a:t> jvm </a:t>
            </a:r>
            <a:r>
              <a:rPr lang="zh-CN" altLang="en-US" sz="2400"/>
              <a:t>融合异常较少，说明其异常更多表现为单指标异常。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40690"/>
            <a:ext cx="10249535" cy="63182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四个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方案总结</a:t>
            </a: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——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能力边界</a:t>
            </a: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 &amp;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优化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动机</a:t>
            </a:r>
            <a:endParaRPr lang="zh-CN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2" name="图片 1" descr="截屏2026-06-09 下午3.56.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6360"/>
            <a:ext cx="12192000" cy="5045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493395"/>
            <a:ext cx="10249535" cy="63182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四个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方案总结</a:t>
            </a: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——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能力边界</a:t>
            </a: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 &amp;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优化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动机</a:t>
            </a:r>
            <a:endParaRPr lang="zh-CN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pic>
        <p:nvPicPr>
          <p:cNvPr id="3" name="图片 2" descr="截屏2026-06-09 下午4.00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30" y="1925955"/>
            <a:ext cx="11671300" cy="3619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 bwMode="auto">
          <a:xfrm>
            <a:off x="290830" y="214630"/>
            <a:ext cx="1958340" cy="63182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小组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分工</a:t>
            </a:r>
            <a:endParaRPr lang="zh-CN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64795" y="1014095"/>
            <a:ext cx="11647805" cy="575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马蕊</a:t>
            </a:r>
            <a:r>
              <a:rPr lang="en-US" altLang="zh-CN"/>
              <a:t>：</a:t>
            </a:r>
            <a:r>
              <a:rPr lang="zh-CN" altLang="en-US"/>
              <a:t>时间动态异常检测与实验对比</a:t>
            </a:r>
            <a:r>
              <a:rPr lang="en-US" altLang="zh-CN"/>
              <a:t>——</a:t>
            </a:r>
            <a:r>
              <a:rPr lang="zh-CN" altLang="en-US"/>
              <a:t>负责提出</a:t>
            </a:r>
            <a:r>
              <a:rPr lang="en-US" altLang="en-US"/>
              <a:t> V3 </a:t>
            </a:r>
            <a:r>
              <a:rPr lang="zh-CN" altLang="en-US"/>
              <a:t>滑动窗口</a:t>
            </a:r>
            <a:r>
              <a:rPr lang="en-US" altLang="en-US"/>
              <a:t> Z-score </a:t>
            </a:r>
            <a:r>
              <a:rPr lang="zh-CN" altLang="en-US"/>
              <a:t>思路，解决</a:t>
            </a:r>
            <a:r>
              <a:rPr lang="en-US" altLang="en-US"/>
              <a:t> V1/V2 </a:t>
            </a:r>
            <a:r>
              <a:rPr lang="zh-CN" altLang="en-US"/>
              <a:t>使用全局静态统计量、忽略时间局部变化的问题；完成</a:t>
            </a:r>
            <a:r>
              <a:rPr lang="en-US" altLang="en-US"/>
              <a:t> V3 </a:t>
            </a:r>
            <a:r>
              <a:rPr lang="zh-CN" altLang="en-US"/>
              <a:t>运行验证，整理</a:t>
            </a:r>
            <a:r>
              <a:rPr lang="en-US" altLang="en-US"/>
              <a:t> V2/V3 </a:t>
            </a:r>
            <a:r>
              <a:rPr lang="zh-CN" altLang="en-US"/>
              <a:t>在异常数量、异常序列和</a:t>
            </a:r>
            <a:r>
              <a:rPr lang="en-US" altLang="en-US"/>
              <a:t> service Top </a:t>
            </a:r>
            <a:r>
              <a:rPr lang="zh-CN" altLang="en-US"/>
              <a:t>异常上的差异</a:t>
            </a:r>
            <a:r>
              <a:rPr lang="en-US" altLang="zh-CN"/>
              <a:t>。</a:t>
            </a:r>
            <a:r>
              <a:rPr lang="zh-CN" altLang="en-US">
                <a:sym typeface="+mn-ea"/>
              </a:rPr>
              <a:t>整理各版本</a:t>
            </a:r>
            <a:r>
              <a:rPr lang="en-US" altLang="en-US">
                <a:sym typeface="+mn-ea"/>
              </a:rPr>
              <a:t> anomaly_points</a:t>
            </a:r>
            <a:r>
              <a:rPr lang="zh-CN" altLang="en-US">
                <a:sym typeface="+mn-ea"/>
              </a:rPr>
              <a:t>、</a:t>
            </a:r>
            <a:r>
              <a:rPr lang="en-US" altLang="en-US">
                <a:sym typeface="+mn-ea"/>
              </a:rPr>
              <a:t>stats</a:t>
            </a:r>
            <a:r>
              <a:rPr lang="zh-CN" altLang="en-US">
                <a:sym typeface="+mn-ea"/>
              </a:rPr>
              <a:t>、</a:t>
            </a:r>
            <a:r>
              <a:rPr lang="en-US" altLang="en-US">
                <a:sym typeface="+mn-ea"/>
              </a:rPr>
              <a:t>summary </a:t>
            </a:r>
            <a:r>
              <a:rPr lang="zh-CN" altLang="en-US">
                <a:sym typeface="+mn-ea"/>
              </a:rPr>
              <a:t>等输出数据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张玳瑗</a:t>
            </a:r>
            <a:r>
              <a:rPr lang="en-US" altLang="zh-CN"/>
              <a:t>：</a:t>
            </a:r>
            <a:r>
              <a:rPr lang="zh-CN" altLang="en-US"/>
              <a:t>实验结果统计与可视化数据构建</a:t>
            </a:r>
            <a:r>
              <a:rPr lang="en-US" altLang="en-US"/>
              <a:t>——</a:t>
            </a:r>
            <a:r>
              <a:rPr lang="zh-CN" altLang="en-US"/>
              <a:t>负责设计</a:t>
            </a:r>
            <a:r>
              <a:rPr lang="en-US" altLang="en-US"/>
              <a:t> V1-V4 </a:t>
            </a:r>
            <a:r>
              <a:rPr lang="zh-CN" altLang="en-US"/>
              <a:t>结果统计口径，整理输出数据；提取总异常数、按</a:t>
            </a:r>
            <a:r>
              <a:rPr lang="en-US" altLang="en-US"/>
              <a:t> metric_type </a:t>
            </a:r>
            <a:r>
              <a:rPr lang="zh-CN" altLang="en-US"/>
              <a:t>分布、</a:t>
            </a:r>
            <a:r>
              <a:rPr lang="en-US" altLang="en-US"/>
              <a:t>Top </a:t>
            </a:r>
            <a:r>
              <a:rPr lang="zh-CN" altLang="en-US"/>
              <a:t>异常序列、</a:t>
            </a:r>
            <a:r>
              <a:rPr lang="en-US" altLang="en-US"/>
              <a:t>V1/V2/V3/V4 </a:t>
            </a:r>
            <a:r>
              <a:rPr lang="zh-CN" altLang="en-US"/>
              <a:t>对比表和时间序列展示数据；</a:t>
            </a:r>
            <a:r>
              <a:rPr lang="zh-CN" altLang="en-US"/>
              <a:t>帮助构建前端</a:t>
            </a:r>
            <a:r>
              <a:rPr lang="en-US" altLang="en-US"/>
              <a:t> Dashboard </a:t>
            </a:r>
            <a:r>
              <a:rPr lang="zh-CN" altLang="en-US"/>
              <a:t>所需的</a:t>
            </a:r>
            <a:r>
              <a:rPr lang="en-US" altLang="en-US"/>
              <a:t> CSV/JSON </a:t>
            </a:r>
            <a:r>
              <a:rPr lang="zh-CN" altLang="en-US"/>
              <a:t>数据，并协助完成图</a:t>
            </a:r>
            <a:r>
              <a:rPr lang="en-US" altLang="en-US"/>
              <a:t> 13 </a:t>
            </a:r>
            <a:r>
              <a:rPr lang="zh-CN" altLang="en-US"/>
              <a:t>同一时间序列四版本异常标记对比。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李姝漫</a:t>
            </a:r>
            <a:r>
              <a:rPr lang="en-US" altLang="zh-CN"/>
              <a:t>：</a:t>
            </a:r>
            <a:r>
              <a:rPr lang="zh-CN" altLang="en-US"/>
              <a:t>多指标融合与结果展示分析</a:t>
            </a:r>
            <a:r>
              <a:rPr lang="en-US" altLang="zh-CN"/>
              <a:t>——</a:t>
            </a:r>
            <a:r>
              <a:rPr lang="zh-CN" altLang="en-US"/>
              <a:t>负责提出</a:t>
            </a:r>
            <a:r>
              <a:rPr lang="en-US" altLang="en-US"/>
              <a:t> V4 </a:t>
            </a:r>
            <a:r>
              <a:rPr lang="zh-CN" altLang="en-US"/>
              <a:t>从单指标检测扩展到多指标融合检测的思路，设计</a:t>
            </a:r>
            <a:r>
              <a:rPr lang="en-US" altLang="en-US"/>
              <a:t> timestamp + object_id + metric_type </a:t>
            </a:r>
            <a:r>
              <a:rPr lang="zh-CN" altLang="en-US"/>
              <a:t>粒度下的多</a:t>
            </a:r>
            <a:r>
              <a:rPr lang="en-US" altLang="en-US"/>
              <a:t> KPI </a:t>
            </a:r>
            <a:r>
              <a:rPr lang="zh-CN" altLang="en-US"/>
              <a:t>共同异常判断；完成</a:t>
            </a:r>
            <a:r>
              <a:rPr lang="en-US" altLang="en-US"/>
              <a:t> V4 </a:t>
            </a:r>
            <a:r>
              <a:rPr lang="zh-CN" altLang="en-US"/>
              <a:t>结果分析，并将</a:t>
            </a:r>
            <a:r>
              <a:rPr lang="en-US" altLang="en-US"/>
              <a:t> V1-V4 </a:t>
            </a:r>
            <a:r>
              <a:rPr lang="zh-CN" altLang="en-US"/>
              <a:t>结果转化为图表和前端</a:t>
            </a:r>
            <a:r>
              <a:rPr lang="en-US" altLang="en-US"/>
              <a:t> Dashboard </a:t>
            </a:r>
            <a:r>
              <a:rPr lang="zh-CN" altLang="en-US"/>
              <a:t>展示逻辑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王咏心</a:t>
            </a:r>
            <a:r>
              <a:rPr lang="en-US" altLang="zh-CN"/>
              <a:t>：</a:t>
            </a:r>
            <a:r>
              <a:rPr lang="zh-CN" altLang="en-US"/>
              <a:t>负责分析老师提供的</a:t>
            </a:r>
            <a:r>
              <a:rPr lang="en-US" altLang="en-US"/>
              <a:t> 6 </a:t>
            </a:r>
            <a:r>
              <a:rPr lang="zh-CN" altLang="en-US"/>
              <a:t>个场景、</a:t>
            </a:r>
            <a:r>
              <a:rPr lang="en-US" altLang="en-US"/>
              <a:t>5 </a:t>
            </a:r>
            <a:r>
              <a:rPr lang="zh-CN" altLang="en-US"/>
              <a:t>类指标数据结构，提出将不同格式数据统一为</a:t>
            </a:r>
            <a:r>
              <a:rPr lang="en-US" altLang="en-US"/>
              <a:t> timestamp / object_id / kpi_name / metric_type / value </a:t>
            </a:r>
            <a:r>
              <a:rPr lang="zh-CN" altLang="en-US"/>
              <a:t>的长表结构；完成</a:t>
            </a:r>
            <a:r>
              <a:rPr lang="en-US" altLang="en-US"/>
              <a:t> service </a:t>
            </a:r>
            <a:r>
              <a:rPr lang="zh-CN" altLang="en-US"/>
              <a:t>宽表转长表、类型转换、空值过滤和</a:t>
            </a:r>
            <a:r>
              <a:rPr lang="en-US" altLang="en-US"/>
              <a:t> clean_metrics </a:t>
            </a:r>
            <a:r>
              <a:rPr lang="zh-CN" altLang="en-US"/>
              <a:t>构造方案</a:t>
            </a:r>
            <a:r>
              <a:rPr lang="en-US" altLang="zh-CN"/>
              <a:t>。</a:t>
            </a:r>
            <a:r>
              <a:rPr lang="zh-CN" altLang="en-US"/>
              <a:t>验证</a:t>
            </a:r>
            <a:r>
              <a:rPr lang="en-US" altLang="zh-CN"/>
              <a:t>v1-v4</a:t>
            </a:r>
            <a:r>
              <a:rPr lang="zh-CN" altLang="en-US"/>
              <a:t>数据来源正确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吴柯蝶</a:t>
            </a:r>
            <a:r>
              <a:rPr lang="en-US" altLang="zh-CN"/>
              <a:t>：</a:t>
            </a:r>
            <a:r>
              <a:rPr lang="zh-CN" altLang="en-US"/>
              <a:t>项目统筹与核心算法实现</a:t>
            </a:r>
            <a:r>
              <a:rPr lang="en-US" altLang="zh-CN"/>
              <a:t>——</a:t>
            </a:r>
            <a:r>
              <a:rPr lang="zh-CN" altLang="en-US"/>
              <a:t>提出</a:t>
            </a:r>
            <a:r>
              <a:rPr lang="en-US" altLang="en-US"/>
              <a:t>“</a:t>
            </a:r>
            <a:r>
              <a:rPr lang="zh-CN" altLang="en-US"/>
              <a:t>四阶段迭代式异常检测路线</a:t>
            </a:r>
            <a:r>
              <a:rPr lang="en-US" altLang="en-US"/>
              <a:t>”</a:t>
            </a:r>
            <a:r>
              <a:rPr lang="zh-CN" altLang="en-US"/>
              <a:t>：</a:t>
            </a:r>
            <a:r>
              <a:rPr lang="en-US" altLang="en-US"/>
              <a:t>V1 </a:t>
            </a:r>
            <a:r>
              <a:rPr lang="zh-CN" altLang="en-US"/>
              <a:t>建立</a:t>
            </a:r>
            <a:r>
              <a:rPr lang="en-US" altLang="en-US"/>
              <a:t> IQR baseline</a:t>
            </a:r>
            <a:r>
              <a:rPr lang="zh-CN" altLang="en-US"/>
              <a:t>，</a:t>
            </a:r>
            <a:r>
              <a:rPr lang="en-US" altLang="en-US"/>
              <a:t>V2 </a:t>
            </a:r>
            <a:r>
              <a:rPr lang="zh-CN" altLang="en-US"/>
              <a:t>加入</a:t>
            </a:r>
            <a:r>
              <a:rPr lang="en-US" altLang="en-US"/>
              <a:t> Z-score </a:t>
            </a:r>
            <a:r>
              <a:rPr lang="zh-CN" altLang="en-US"/>
              <a:t>提高置信度，</a:t>
            </a:r>
            <a:r>
              <a:rPr lang="en-US" altLang="en-US"/>
              <a:t>V3 </a:t>
            </a:r>
            <a:r>
              <a:rPr lang="zh-CN" altLang="en-US"/>
              <a:t>引入滑动窗口处理时间动态，</a:t>
            </a:r>
            <a:r>
              <a:rPr lang="en-US" altLang="en-US"/>
              <a:t>V4 </a:t>
            </a:r>
            <a:r>
              <a:rPr lang="zh-CN" altLang="en-US"/>
              <a:t>做多指标融合；负责</a:t>
            </a:r>
            <a:r>
              <a:rPr lang="en-US" altLang="en-US"/>
              <a:t> V1/V2 </a:t>
            </a:r>
            <a:r>
              <a:rPr lang="zh-CN" altLang="en-US"/>
              <a:t>核心实现、结果整合和最终答辩主线设计</a:t>
            </a:r>
            <a:r>
              <a:rPr lang="en-US" altLang="zh-CN"/>
              <a:t>。</a:t>
            </a:r>
            <a:r>
              <a:rPr lang="zh-CN" altLang="en-US"/>
              <a:t>负责</a:t>
            </a:r>
            <a:r>
              <a:rPr lang="en-US" altLang="en-US"/>
              <a:t> Hadoop/HDFS/Spark </a:t>
            </a:r>
            <a:r>
              <a:rPr lang="zh-CN" altLang="en-US"/>
              <a:t>环境配置</a:t>
            </a:r>
            <a:r>
              <a:rPr lang="en-US" altLang="zh-CN"/>
              <a:t>，</a:t>
            </a:r>
            <a:r>
              <a:rPr lang="zh-CN" altLang="en-US"/>
              <a:t>完成原始数据上传、</a:t>
            </a:r>
            <a:r>
              <a:rPr lang="en-US" altLang="en-US"/>
              <a:t>HDFS </a:t>
            </a:r>
            <a:r>
              <a:rPr lang="zh-CN" altLang="en-US"/>
              <a:t>路径验证、</a:t>
            </a:r>
            <a:r>
              <a:rPr lang="en-US" altLang="en-US"/>
              <a:t>Spark </a:t>
            </a:r>
            <a:r>
              <a:rPr lang="zh-CN" altLang="en-US"/>
              <a:t>读取测试，并协助解决运行慢、内存压力和参数配置问题</a:t>
            </a:r>
            <a:r>
              <a:rPr lang="en-US" altLang="zh-CN"/>
              <a:t>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35" y="1245235"/>
            <a:ext cx="7032625" cy="5348605"/>
          </a:xfrm>
          <a:prstGeom prst="rect">
            <a:avLst/>
          </a:prstGeom>
        </p:spPr>
      </p:pic>
      <p:sp>
        <p:nvSpPr>
          <p:cNvPr id="6" name="矩形 16"/>
          <p:cNvSpPr/>
          <p:nvPr/>
        </p:nvSpPr>
        <p:spPr bwMode="auto">
          <a:xfrm>
            <a:off x="290830" y="494030"/>
            <a:ext cx="6907530" cy="49022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附录</a:t>
            </a:r>
            <a:r>
              <a:rPr lang="en-US" altLang="zh-CN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：V2 service Top </a:t>
            </a:r>
            <a:r>
              <a:rPr lang="zh-CN" altLang="en-US" sz="3200" b="1" kern="100">
                <a:solidFill>
                  <a:srgbClr val="42835D"/>
                </a:solidFill>
                <a:latin typeface="+mj-ea"/>
                <a:ea typeface="+mj-ea"/>
                <a:cs typeface="思源黑体 CN Normal" panose="020B0400000000000000" charset="-122"/>
              </a:rPr>
              <a:t>序列</a:t>
            </a:r>
            <a:endParaRPr lang="en-US" altLang="en-US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200" b="1" kern="100">
              <a:solidFill>
                <a:srgbClr val="42835D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3158</Words>
  <Application>WPS Spreadsheets</Application>
  <PresentationFormat>宽屏</PresentationFormat>
  <Paragraphs>245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Wingdings</vt:lpstr>
      <vt:lpstr>思源黑体 CN Normal</vt:lpstr>
      <vt:lpstr>汉仪中黑KW</vt:lpstr>
      <vt:lpstr>Menlo</vt:lpstr>
      <vt:lpstr>Source Sans</vt:lpstr>
      <vt:lpstr>苹方-简</vt:lpstr>
      <vt:lpstr>宋体</vt:lpstr>
      <vt:lpstr>汉仪书宋二KW</vt:lpstr>
      <vt:lpstr>微软雅黑</vt:lpstr>
      <vt:lpstr>汉仪旗黑</vt:lpstr>
      <vt:lpstr>Arial Unicode MS</vt:lpstr>
      <vt:lpstr>Thonburi</vt:lpstr>
      <vt:lpstr>Menlo</vt:lpstr>
      <vt:lpstr>Source Sans</vt:lpstr>
      <vt:lpstr>思源黑体 CN Normal</vt:lpstr>
      <vt:lpstr>Menlo Regular</vt:lpstr>
      <vt:lpstr>Menlo Bold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kodia</cp:lastModifiedBy>
  <cp:revision>171</cp:revision>
  <dcterms:created xsi:type="dcterms:W3CDTF">2026-06-09T16:19:28Z</dcterms:created>
  <dcterms:modified xsi:type="dcterms:W3CDTF">2026-06-09T16:19:28Z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1033-6.13.2.8918</vt:lpwstr>
  </property>
  <property fmtid="{D5CDD505-2E9C-101B-9397-08002B2CF9AE}" pid="3" name="ICV">
    <vt:lpwstr>77897EC97D50DA2EB6E5266A1A03DC6F_41</vt:lpwstr>
  </property>
</Properties>
</file>